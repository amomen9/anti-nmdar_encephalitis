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24128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BIO-MODELLING PROJECT</a:t>
            </a:r>
          </a:p>
          <a:p>
            <a:pPr>
              <a:lnSpc>
                <a:spcPct val="102000"/>
              </a:lnSpc>
              <a:spcBef>
                <a:spcPts val="100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Modeling Anti-NMDAR Encephalitis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using Petri Nets</a:t>
            </a:r>
          </a:p>
          <a:p>
            <a:pPr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A discrete stochastic Petri net of NMDAR signalling and its downstream neurodegeneration pathway, baseline vs. anti-NMDAR perturbation.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074920"/>
            <a:ext cx="9875520" cy="177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1208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Alexa van Thiel (s3617238)   |   Ali Momen (s4993128)   |   Thijs Vijgeboom (s2648261)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6F0"/>
                </a:solidFill>
                <a:latin typeface="Calibri"/>
              </a:rPr>
              <a:t>LIACS, Leiden University, the Netherlands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OVERVIEW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508760"/>
            <a:ext cx="566928" cy="566928"/>
          </a:xfrm>
          <a:prstGeom prst="ellipse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087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508760"/>
            <a:ext cx="9875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3357"/>
                </a:solidFill>
                <a:latin typeface="Calibri"/>
              </a:rPr>
              <a:t>Introduction   </a:t>
            </a:r>
            <a:r>
              <a:rPr sz="1350" b="0" i="1">
                <a:solidFill>
                  <a:srgbClr val="5B6877"/>
                </a:solidFill>
                <a:latin typeface="Calibri"/>
              </a:rPr>
              <a:t>  The disease, the gap, the research question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441448"/>
            <a:ext cx="566928" cy="566928"/>
          </a:xfrm>
          <a:prstGeom prst="ellipse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41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441448"/>
            <a:ext cx="9875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3357"/>
                </a:solidFill>
                <a:latin typeface="Calibri"/>
              </a:rPr>
              <a:t>Biological Background   </a:t>
            </a:r>
            <a:r>
              <a:rPr sz="1350" b="0" i="1">
                <a:solidFill>
                  <a:srgbClr val="5B6877"/>
                </a:solidFill>
                <a:latin typeface="Calibri"/>
              </a:rPr>
              <a:t>  Encephalitis, NMDAR, and the autoimmune mechanism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374136"/>
            <a:ext cx="566928" cy="566928"/>
          </a:xfrm>
          <a:prstGeom prst="ellipse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7413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374136"/>
            <a:ext cx="9875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3357"/>
                </a:solidFill>
                <a:latin typeface="Calibri"/>
              </a:rPr>
              <a:t>Bio-modeling   </a:t>
            </a:r>
            <a:r>
              <a:rPr sz="1350" b="0" i="1">
                <a:solidFill>
                  <a:srgbClr val="5B6877"/>
                </a:solidFill>
                <a:latin typeface="Calibri"/>
              </a:rPr>
              <a:t>  Petri net definitions, decisions, and the two coupled modules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4306824"/>
            <a:ext cx="566928" cy="566928"/>
          </a:xfrm>
          <a:prstGeom prst="ellipse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0682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306824"/>
            <a:ext cx="9875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3357"/>
                </a:solidFill>
                <a:latin typeface="Calibri"/>
              </a:rPr>
              <a:t>Analysis and Results   </a:t>
            </a:r>
            <a:r>
              <a:rPr sz="1350" b="0" i="1">
                <a:solidFill>
                  <a:srgbClr val="5B6877"/>
                </a:solidFill>
                <a:latin typeface="Calibri"/>
              </a:rPr>
              <a:t>  Validation of baseline vs. perturbation dynamics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239512"/>
            <a:ext cx="566928" cy="566928"/>
          </a:xfrm>
          <a:prstGeom prst="ellipse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2395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239512"/>
            <a:ext cx="9875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3357"/>
                </a:solidFill>
                <a:latin typeface="Calibri"/>
              </a:rPr>
              <a:t>Conclusions   </a:t>
            </a:r>
            <a:r>
              <a:rPr sz="1350" b="0" i="1">
                <a:solidFill>
                  <a:srgbClr val="5B6877"/>
                </a:solidFill>
                <a:latin typeface="Calibri"/>
              </a:rPr>
              <a:t>  Findings, limitations,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 Light"/>
              </a:rPr>
              <a:t>Section 1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Introduction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The disease, the gap it leaves, and the question we 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1  INTRODUCTION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An autoimmune attack on the synapse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4008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Anti-NMDAR encephalitis is an autoimmune disease: IgG autoantibodies target the GluN1 subunit of NMDARs.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Antibodies crosslink and internalise the receptors, lowering surface NMDAR density and reducing Ca2+ entry into the neuron.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Clinical picture: psychiatric symptoms (psychosis, agitation), memory deficits, seizures, and movement disorders.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The gap: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individual pathways are well studied, but no integrated model links reduced NMDAR activity to the balance of protective vs. damaging pathways over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Petri nets are an established formalism for biological signalling and synaptic plasticity, so they fit this question well.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4251960" cy="4050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E86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▦  FIGURE PLACEHOLDER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877"/>
                </a:solidFill>
                <a:latin typeface="Calibri"/>
              </a:rPr>
              <a:t>Replace this box with the image below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A37"/>
                </a:solidFill>
                <a:latin typeface="Calibri"/>
              </a:rPr>
              <a:t>Web image:  </a:t>
            </a:r>
            <a:r>
              <a:rPr sz="1050" b="0" i="0">
                <a:solidFill>
                  <a:srgbClr val="2E86AB"/>
                </a:solidFill>
                <a:latin typeface="Calibri"/>
              </a:rPr>
              <a:t>https://commons.wikimedia.org/wiki/File:NMDA_receptor.jpg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5504688"/>
            <a:ext cx="4251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NMDA receptor at a glutamatergic synapse: GluN1 / GluN2 tetramer gating Ca2+ influx.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1  INTRODUCTION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Research question and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57839" cy="123444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10600639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86AB"/>
                </a:solidFill>
                <a:latin typeface="Calibri"/>
              </a:rPr>
              <a:t>Research question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3357"/>
                </a:solidFill>
                <a:latin typeface="Calibri"/>
              </a:rPr>
              <a:t>How does antibody-mediated NMDAR depletion alter the dynamic balance between calcium-dependent survival, oxidative stress, and apoptotic signalling?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26080"/>
            <a:ext cx="11057839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A9D8F"/>
                </a:solidFill>
                <a:latin typeface="Calibri"/>
              </a:rPr>
              <a:t>Hypothesis: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reduced Ca2+ influx lowers activation of the CaMKII and NF-kB survival / plasticity pathways, while increasing relative flux through ROS and CHOP / CASP3, favouring oxidative stress and apoptosis.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Comparison strategy: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 healthy baseline net and an anti-NMDAR perturbation net that share identical core conditions, so any divergence comes only from the disease-specific machinery.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Validation plan: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simulation of token distributions, baseline vs. perturbed initial markings, reachability analysis, and sensitivity analysis (supported by Charlie and Snoopy exports).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 Light"/>
              </a:rPr>
              <a:t>Section 2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Biological Background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Encephalitis, the NMDA receptor, and the autoimmune mechanism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2  BIOLOGICAL BACKGROUND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Encephalitis and its autoimmune subtype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4008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Encephalitis is acute inflammation of the brain parenchyma, causing altered consciousness, seizures, and behavioural changes.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Infectious (IE):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pathogen-driven (HSV, enteroviruses, arboviruses).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Autoimmune (AE):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antibodies against neuronal surface or intracellular antigens.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Often misdiagnosed: the high variance of causative agents leads to overlapping, ubiquitous pathology.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Anti-NMDAR encephalitis is an AE subtype, driven by patient IgG against the NMDA receptor - the focus of this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4251960" cy="4050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E86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▦  FIGURE PLACEHOLDER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877"/>
                </a:solidFill>
                <a:latin typeface="Calibri"/>
              </a:rPr>
              <a:t>Replace this box with the image below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A37"/>
                </a:solidFill>
                <a:latin typeface="Calibri"/>
              </a:rPr>
              <a:t>Web image:  </a:t>
            </a:r>
            <a:r>
              <a:rPr sz="1050" b="0" i="0">
                <a:solidFill>
                  <a:srgbClr val="2E86AB"/>
                </a:solidFill>
                <a:latin typeface="Calibri"/>
              </a:rPr>
              <a:t>https://www.frontiersin.org/journals/neurology/articles/10.3389/fneur.2022.834929/full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5504688"/>
            <a:ext cx="4251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T2 / FLAIR hyperintensities reported in anti-NMDAR encephalitis (limbic and cortical regions).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2  BIOLOGICAL BACKGROUND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NMDAR and the autoimmune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4008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NMDAR: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 glutamate-gated ion channel with a voltage-dependent Mg2+ block; a heterotetramer of GluN1 + GluN2 subunits.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It gates Ca2+ influx that is central to long-term potentiation (LTP), synaptic plasticity, and neuronal survival.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Patients produce IgG autoantibodies mainly against the GluN1 domain.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C0392B"/>
                </a:solidFill>
                <a:latin typeface="Calibri"/>
              </a:rPr>
              <a:t>Pathogenic cascade: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antibody binds extracellular GluN1,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surface receptors are crosslinked,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the NMDAR-antibody complex is internalised,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surface NMDAR density falls -&gt; NMDAR loss of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4251960" cy="4050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2E86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▦  FIGURE PLACEHOLDER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877"/>
                </a:solidFill>
                <a:latin typeface="Calibri"/>
              </a:rPr>
              <a:t>Replace this box with the image below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A37"/>
                </a:solidFill>
                <a:latin typeface="Calibri"/>
              </a:rPr>
              <a:t>Web image:  </a:t>
            </a:r>
            <a:r>
              <a:rPr sz="1050" b="0" i="0">
                <a:solidFill>
                  <a:srgbClr val="2E86AB"/>
                </a:solidFill>
                <a:latin typeface="Calibri"/>
              </a:rPr>
              <a:t>https://doi.org/10.1056/NEJMra1708712  (Dalmau &amp; Graus 2018, Fig.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5504688"/>
            <a:ext cx="4251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Antibody binding, crosslinking, and internalisation of surface NMDARs in anti-NMDAR encephalitis.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2  BIOLOGICAL BACKGROUND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Downstream consequences of NMDAR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03504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E8B57"/>
                </a:solidFill>
                <a:latin typeface="Calibri"/>
              </a:rPr>
              <a:t>Healthy: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Ca2+ -&gt; CaMKII and CREB / NF-kB -&gt; LTP, gene expression, and neuronal survival.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C0392B"/>
                </a:solidFill>
                <a:latin typeface="Calibri"/>
              </a:rPr>
              <a:t>NMDAR loss disrupts Ca2+ homeostasis and tips the balance: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ER stress -&gt; CHOP (DDIT3), a pro-apoptotic factor,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mitochondrial Ca2+ imbalance -&gt; ROS / oxidative stress,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convergence on CASP3 -&gt; apoptosis / neurodegeneration,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reduced NF-kB signalling -&gt; impaired LTP.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Our model is a truncated slice of KEGG hsa05022, keeping only the branches downstream of NMDAR dysfunction.</a:t>
            </a:r>
          </a:p>
        </p:txBody>
      </p:sp>
      <p:pic>
        <p:nvPicPr>
          <p:cNvPr id="9" name="Picture 8" descr="NMDAR_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923" y="1417320"/>
            <a:ext cx="3843914" cy="405079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7040880" y="5504688"/>
            <a:ext cx="457200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KEGG neurodegeneration pathway (hsa05022) that our model is a part of; web source: https://www.kegg.jp/pathway/hsa05022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 Light"/>
              </a:rPr>
              <a:t>Section 3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Bio-modeling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Petri net definitions, modelling decisions, and the two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  BIO-MODELING  &gt;  3.1 TECHNICAL DEFINITIONS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 discrete stochastic Petri net (SPN)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44652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We model NMDAR signalling at a glutamatergic synapse as a discrete stochastic Petri net.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A Petri net is a 5-tuple N = (P, T, F, W, M0):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P  places - molecular species or states,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T  transitions - biochemical reactions or events,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F  flow relation - directed arcs between places and transitions,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W  arc weights - stoichiometry,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M0  initial marking - tokens per place.</a:t>
            </a:r>
          </a:p>
          <a:p>
            <a:pPr>
              <a:lnSpc>
                <a:spcPct val="106000"/>
              </a:lnSpc>
              <a:spcBef>
                <a:spcPts val="3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Stochastic firing via the Gillespie SSA: each transition fires with a mass-action propensity over its input tokens.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 transition is enabled when every input place holds at least the arc weight; one firing per SSA step; ordinary arcs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417320"/>
            <a:ext cx="4297680" cy="4526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91440" cy="4526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527048"/>
            <a:ext cx="3968496" cy="4306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Propensity (mass action)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a(t) = k . product over input places of  m(p)! / [ (m(p) - w(p))! . w(p)! ]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k is the rate constant, m(p) the marking of input place p, w(p) the arc weight.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Built in a small, fully introspectable Python Petri-net core.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Exported to Snoopy (.spn / .cpn) and Charlie (APNN / ANDL) for external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  BIO-MODELING  &gt;  3.2 MODELING DECISIONS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Two coupled nets sharing cytosolic Ca2+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61264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The model is split into two coupled SPNs joined by a shared cytosolic Ca2+ place - the interface between synaptic signalling and downstream neurodegeneration.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Each module has a baseline and a perturbation version; all are simulated for 100 Gillespie SSA runs.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Perturbation adds antibody dynamics (k_on ~ 1e5 /M/s), bivalent crosslinking, and lysosomal degradation, progressively losing surface NMDARs.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Faithful comparison: identical core initial conditions, so every divergence comes from the disease-specific machinery alone.</a:t>
            </a:r>
          </a:p>
        </p:txBody>
      </p:sp>
      <p:pic>
        <p:nvPicPr>
          <p:cNvPr id="9" name="Picture 8" descr="NMDAR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989" y="4343400"/>
            <a:ext cx="2111197" cy="121615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66928" y="5596128"/>
            <a:ext cx="598932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Side-by-side overview: baseline (left) and perturbation (right) NMDAR nets with the cumulative Ca2+ curve.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417320"/>
            <a:ext cx="4617720" cy="45720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1417320"/>
            <a:ext cx="91440" cy="4572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1527048"/>
            <a:ext cx="4288536" cy="43525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What the perturbation adds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NMDAR + Anti-GluN1 IgG -&gt; NMDAR-IgG  (T_Ab_bind)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2x NMDAR-IgG -&gt; crosslinked cap  (T_crosslink)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NMDAR-EphB2 + IgG -&gt; EphB2 disruption  (Mikasova 2012)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crosslinked cap -&gt; endosome  (T_endocytosis)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endosome -&gt; lysosome  (receptor pool lost)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Net effect: surface NMDAR pool drains -&gt; Ca2+ influx and the CaMKII / LTP cascade collapse.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3.2.1  ANTI-NMDAR CA2+ INFLUX MODULE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glutamatergic synapse, healthy and perturbed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57839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Models presynaptic vesicle release, glutamate + glycine binding, voltage-dependent Mg2+ block / unblock, channel opening, Ca2+ influx and extrusion (PMCA / NCX), and CaMKII / LTP activation.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The perturbation variant adds antibody-mediated internalisation: tokens drain from NMDAR (closed) into Degraded (lysosome), lowering the Ca2+ influx events that feed the downstream net.</a:t>
            </a:r>
          </a:p>
        </p:txBody>
      </p:sp>
      <p:pic>
        <p:nvPicPr>
          <p:cNvPr id="9" name="Picture 8" descr="NMDAR_baseline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540" y="3063240"/>
            <a:ext cx="3060896" cy="249631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66928" y="5596128"/>
            <a:ext cx="553212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Baseline: healthy NMDAR signalling Petri net at t = 0.</a:t>
            </a:r>
          </a:p>
        </p:txBody>
      </p:sp>
      <p:pic>
        <p:nvPicPr>
          <p:cNvPr id="11" name="Picture 10" descr="NMDAR_perturbation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240" y="3063240"/>
            <a:ext cx="4311480" cy="249631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355080" y="5596128"/>
            <a:ext cx="525780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Perturbation: anti-NMDAR net with IgG binding, crosslinking, endocytosis, and lysosomal degradation.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3.2.1  ANTI-NMDAR CA2+ INFLUX MODULE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Places and initial markings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6035039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3057"/>
                <a:gridCol w="1293222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Place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Perturbation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Pre-synaptic vesicle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Glutamate (cleft)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Glycine / D-Serine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Mg2+ (cleft)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Ca2+ (extracellular)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NMDAR (closed)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EphB2 (surface)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PSD-95 (free)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CaMKII (inactive)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Ca2+ (cytosol)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Anti-GluN1 IgG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Internalised (endosome)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02A37"/>
                          </a:solidFill>
                          <a:latin typeface="Calibri"/>
                        </a:rPr>
                        <a:t>Degraded (lysosome)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E8B5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417320"/>
            <a:ext cx="470916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91440" cy="4297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1527048"/>
            <a:ext cx="4379976" cy="40782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Reading the table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Both nets share identical core synaptic conditions.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The perturbation adds three places (shown as '-' in baseline): Anti-GluN1 IgG (18, the patient antibody pool), Internalised (endosome), and Degraded (lysosome).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Tokens flow NMDAR (closed) -&gt; internalisation -&gt; Degraded, depleting the surface pool and the rate of Ca2+ influx.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Any downstream divergence is therefore due to antibody-driven internalisation, not different starting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3.2.2  DOWNSTREAM APOPTOTIC MODULE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From cytosolic Ca2+ to neurodegeneration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9436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This module takes cytosolic Ca2+ as its sole input and models three converging pathways: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Mitochondrial Ca2+ uptake -&gt; loss of membrane potential -&gt; cytochrome-c release -&gt; CASP9,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ER stress -&gt; CHOP (DDIT3),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ROS generation and scavenging.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CASP3 is the convergence point: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it integrates the CASP9, CHOP, and ROS inputs.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Active CASP3 -&gt; apoptosis commitment -&gt; a neurodegeneration firing transition that accumulates damage.</a:t>
            </a:r>
          </a:p>
        </p:txBody>
      </p:sp>
      <p:pic>
        <p:nvPicPr>
          <p:cNvPr id="9" name="Picture 8" descr="neurodegeneration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31599"/>
            <a:ext cx="5074920" cy="3222233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537960" y="5504688"/>
            <a:ext cx="507492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Downstream Petri nets at t = 0: baseline (left, Ca2+ = 35) and perturbation (right, Ca2+ = 15).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3.2.2  DOWNSTREAM APOPTOTIC MODULE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Perturbed rate constants and markings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54480"/>
          <a:ext cx="6035038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9677"/>
                <a:gridCol w="1248628"/>
                <a:gridCol w="145673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Perturbation</a:t>
                      </a:r>
                    </a:p>
                  </a:txBody>
                  <a:tcPr marT="25400" marB="25400" anchor="ctr">
                    <a:solidFill>
                      <a:srgbClr val="1633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Initial Ca2+ (cytosol)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ER stress induction (k)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Ca2+-mito uptake (k)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CHOP induction (k)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Apoptosis commitment (k)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7"/>
                          </a:solidFill>
                          <a:latin typeface="Calibri"/>
                        </a:rPr>
                        <a:t>Neurodegeneration firing (k)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8B57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T="12700" marB="127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417320"/>
            <a:ext cx="470916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91440" cy="4297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1527048"/>
            <a:ext cx="4379976" cy="40782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Why these changes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Lower initial Ca2+ (15 vs. 35) reflects antibody-mediated receptor loss upstream.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Higher ER-stress induction (0.50 vs. 0.20) reflects enhanced cellular stress sensitivity under NMDAR dysfunction.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Reduced Ca2+-mito uptake (0.15 vs. 0.30) follows the lower cytosolic Ca2+.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All other rate constants are held identical, isolating the effect of altered Ca2+ signalling and ER-stress susceptibility.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 Light"/>
              </a:rPr>
              <a:t>Section 4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Analysis and Results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Validating baseline against the anti-NMDAR perturbation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4  ANALYSIS AND RESULTS  &gt;  4.1 VALIDATION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Calcium influx: healthy vs. anti-NMDAR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42976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Healthy signalling (green) sustains higher cytosolic Ca2+ and greater cumulative influx than the perturbation (red).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After 8 s, cumulative Ca2+ influx in the perturbation falls to </a:t>
            </a:r>
            <a:r>
              <a:rPr sz="1650" b="1" i="0">
                <a:solidFill>
                  <a:srgbClr val="C0392B"/>
                </a:solidFill>
                <a:latin typeface="Calibri"/>
              </a:rPr>
              <a:t>43.1% of baseline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which directly reflects antibody-driven NMDAR dysfunction.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This collapse is the input signal handed to the downstream apoptotic module.</a:t>
            </a:r>
          </a:p>
        </p:txBody>
      </p:sp>
      <p:pic>
        <p:nvPicPr>
          <p:cNvPr id="9" name="Picture 8" descr="ca_influ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132" y="1417320"/>
            <a:ext cx="6037535" cy="405079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074920" y="5504688"/>
            <a:ext cx="6537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Instantaneous cytosolic Ca2+ (top) and cumulative T_Ca_in firings (bottom); perturbation reaches 43.1% of baseline.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4  ANALYSIS AND RESULTS  &gt;  4.1 VALIDATION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Downstream trajectories over 10 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42976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 single SSA run, baseline (green) vs. perturbation (red).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All markers - active CASP3, CHOP, ROS, apoptosis commitment, and cumulative neurodegeneration - are elevated under perturbation.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Divergence emerges after t ~ 2 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Cumulative neurodegeneration firings: </a:t>
            </a:r>
            <a:r>
              <a:rPr sz="1650" b="1" i="0">
                <a:solidFill>
                  <a:srgbClr val="C0392B"/>
                </a:solidFill>
                <a:latin typeface="Calibri"/>
              </a:rPr>
              <a:t>13 (perturbation) vs. 1 (baseline)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 by t = 10 s, a 13-fold increase.</a:t>
            </a:r>
          </a:p>
        </p:txBody>
      </p:sp>
      <p:pic>
        <p:nvPicPr>
          <p:cNvPr id="9" name="Picture 8" descr="neurodegeneration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281" y="1417320"/>
            <a:ext cx="2749237" cy="4050792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074920" y="5504688"/>
            <a:ext cx="6537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Five-panel trajectory: CASP3, CHOP, ROS, apoptosis tokens, and cumulative neurodegeneration firings.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4  ANALYSIS AND RESULTS  &gt;  4.1 VALIDATION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Ensemble comparison across 100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42976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Marker accumulation at t = 10 s across 100 SSA runs (mean +/- SD).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All markers are significantly elevated under perturbation.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Largest effects: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apoptosis commitment, delta = 25.47,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neurodegeneration firings, delta = 16.66.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This supports the hypothesis: NMDAR depletion shifts the balance toward oxidative stress and apoptosis.</a:t>
            </a:r>
          </a:p>
        </p:txBody>
      </p:sp>
      <p:pic>
        <p:nvPicPr>
          <p:cNvPr id="9" name="Picture 8" descr="neurodegene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43743"/>
            <a:ext cx="6537960" cy="2797945"/>
          </a:xfrm>
          <a:prstGeom prst="rect">
            <a:avLst/>
          </a:prstGeom>
          <a:ln w="9525">
            <a:solidFill>
              <a:srgbClr val="DCE6F0"/>
            </a:solidFill>
          </a:ln>
          <a:effectLst>
            <a:outerShdw blurRad="60000" dist="25000" dir="5400000" rotWithShape="0">
              <a:srgbClr val="1A2A3A">
                <a:alpha val="2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074920" y="5504688"/>
            <a:ext cx="6537960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877"/>
                </a:solidFill>
                <a:latin typeface="Calibri"/>
              </a:rPr>
              <a:t>Mean +/- SD marker counts (left) and the perturbation - baseline difference (right) over 100 runs.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 Light"/>
              </a:rPr>
              <a:t>Section 5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Conclusions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Calibri"/>
              </a:rPr>
              <a:t>Findings, limitations, and where this could go next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5  CONCLUSIONS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the model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1057839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An integrated, two-module stochastic Petri net reproduces the anti-NMDAR phenotype: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antibody-driven receptor loss -&gt; reduced Ca2+ influx -&gt; a shift from survival (CaMKII / NF-kB / LTP) toward stress and apoptosis (ROS, CHOP, CASP3, neurodegeneration).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Quantitatively: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Ca2+ influx drops to about 43% of baseline,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cumulative neurodegeneration rises roughly 13-fold,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apoptosis commitment is the largest ensemble effect (delta = 25.47).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A9D8F"/>
                </a:solidFill>
                <a:latin typeface="Calibri"/>
              </a:rPr>
              <a:t>Hypothesis supported: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NMDAR depletion tips the protective / damaging balance toward damage, consistent with the anti-NMDAR encephalitis literature.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5  CONCLUSIONS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548640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91440" cy="44805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72768"/>
            <a:ext cx="5157216" cy="42611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Limitations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Mass-action rates are scaled for an 8-10 s simulation window, not absolute physiological constants.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Sparse quantitative data exist for many transition rates.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The net is discrete, stochastic, and uncoloured; the downstream perturbation is encoded as a few hand-tuned rate changes.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Ordinary arcs only - no inhibitor or read arcs in this version.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34924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91440" cy="44805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572768"/>
            <a:ext cx="5020056" cy="42611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3357"/>
                </a:solidFill>
                <a:latin typeface="Calibri"/>
              </a:rPr>
              <a:t>Future work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Estimate rates on the critical subgraph and move to a continuous (ODE) net where data allow.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Add inhibitor / read arcs and coloured tokens for richer logic.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Formal analysis in Charlie: P / T-invariants, boundedness, reachability, and sensitivity.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Titre-dependent antibody dosing to model disease severity.</a:t>
            </a:r>
          </a:p>
          <a:p>
            <a:pPr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202A37"/>
                </a:solidFill>
                <a:latin typeface="Calibri"/>
              </a:rPr>
              <a:t>A sensible follow-up: couple the model to treatment scenarios (antibody removal / immunotherapy).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PROJECT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Work distribution between group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57839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Thijs Vijgeboom: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biological background - NMDAR function, Ca2+ / LTP coupling, oxidative stress, and the rationale for focusing on anti-NMDAR encephalitis.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Alexa van Thiel: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modelling scope and decisions - pathway truncation from KEGG hsa05022, the stochastic uncoloured Petri net choice, and the baseline vs. perturbation design.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1" i="0">
                <a:solidFill>
                  <a:srgbClr val="202A37"/>
                </a:solidFill>
                <a:latin typeface="Calibri"/>
              </a:rPr>
              <a:t>Ali Momen: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model implementation, simulation, and analysis - the Python Petri-net core, Gillespie SSA, figures, and Snoopy / Charlie exports.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7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●  </a:t>
            </a:r>
            <a:r>
              <a:rPr sz="1650" b="0" i="0">
                <a:solidFill>
                  <a:srgbClr val="202A37"/>
                </a:solidFill>
                <a:latin typeface="Calibri"/>
              </a:rPr>
              <a:t>Report and presentation writing was shared across all 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12080"/>
            <a:ext cx="1105783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877"/>
                </a:solidFill>
                <a:latin typeface="Calibri"/>
              </a:rPr>
              <a:t>Note: adjust this slide to match the final agreed contribution split.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6F0"/>
                </a:solidFill>
                <a:latin typeface="Calibri"/>
              </a:rPr>
              <a:t>APPENDIX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7839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7"/>
                </a:solidFill>
                <a:latin typeface="Calibri"/>
              </a:rPr>
              <a:t>Anti-NMDAR Encephalitis  |  Petri Net Modelling</a:t>
            </a:r>
            <a:r>
              <a:rPr sz="900" b="0" i="0">
                <a:solidFill>
                  <a:srgbClr val="5B6877"/>
                </a:solidFill>
                <a:latin typeface="Calibri"/>
              </a:rPr>
              <a:t>          Leiden University, LIACS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86AB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1057839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Dalmau J., Graus F. (2018). Antibody-Mediated Encephalitis. N. Engl. J. Med. 378(9): 840-851.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Mony L., Paoletti P. (2023). Mechanisms of NMDA Receptor Regulation. Curr. Opin. Neurobiol. 83: 102815.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Hughes E.G. et al. (2010). Cellular and synaptic mechanisms of anti-NMDA receptor encephalitis. J. Neurosci. 30(17): 5866-5875.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Mikasova L. et al. (2012). Disrupted surface cross-talk between NMDA and Ephrin-B2 receptors in anti-NMDA encephalitis. Brain 135(5): 1606-1621.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Moscato E.H. et al. (2014). Acute mechanisms underlying antibody effects in anti-NMDAR encephalitis. Ann. Neurol. 76(1): 108-119.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Hardy S., Robillard P.N. (2005). Petri net modeling and simulation of LTP. Biosystems 82(1): 26-38.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Harding H.P. et al. (2003). An integrated stress response regulates resistance to oxidative stress. Mol. Cell 11(3): 619-633.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Yuan J., Yankner B.A. (2000). Apoptosis in the nervous system. Nature 407: 802-809.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86AB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02A37"/>
                </a:solidFill>
                <a:latin typeface="Calibri"/>
              </a:rPr>
              <a:t>KEGG Pathway Database - Pathways of neurodegeneration (hsa05022). https://www.kegg.jp/pathway/hsa05022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Anti-NMDAR Encephalitis using Petri Nets</dc:title>
  <dc:subject/>
  <dc:creator>Alexa van Thiel, Ali Momen, Thijs Vijgeboom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